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Business Intelligence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</a:p>
          <a:p>
            <a:r>
              <a:t>What are the financial implications of switching from monthly to annual billing?</a:t>
            </a:r>
          </a:p>
          <a:p/>
          <a:p>
            <a:r>
              <a:t>Current state:</a:t>
            </a:r>
          </a:p>
          <a:p>
            <a:r>
              <a:t>-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8C8C8"/>
                </a:solidFill>
              </a:defRPr>
            </a:pPr>
            <a:r>
              <a:t>Prepared by ValtricAI | November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400"/>
            </a:pPr>
            <a:r>
              <a:t>Switching from monthly to annual billing is projected to be financially superior despite the 16% discount, primarily due to reduced customer churn increasing Lifetime Value (LTV). The model shows a 63% increase in Net Customer Value (LTV - CAC) and substantial cash flow improvements. Over a 3-year period, the annual plan generates $492,000 more in net profit and improves ROI on customer acquisition by 153 percentage points.</a:t>
            </a:r>
          </a:p>
          <a:p>
            <a:br/>
            <a:pPr>
              <a:spcBef>
                <a:spcPts val="2000"/>
              </a:spcBef>
              <a:defRPr b="1" sz="1600"/>
            </a:pPr>
            <a:r>
              <a:t>Key Metrics:</a:t>
            </a:r>
          </a:p>
          <a:p>
            <a:pPr lvl="1">
              <a:defRPr sz="1400"/>
            </a:pPr>
            <a:r>
              <a:t>• Monthly Recurring Revenue Per Customer: 99 USD</a:t>
            </a:r>
          </a:p>
          <a:p>
            <a:pPr lvl="1">
              <a:defRPr sz="1400"/>
            </a:pPr>
            <a:r>
              <a:t>• Annual Recurring Revenue Per Customer Monthly: 1188 USD</a:t>
            </a:r>
          </a:p>
          <a:p>
            <a:pPr lvl="1">
              <a:defRPr sz="1400"/>
            </a:pPr>
            <a:r>
              <a:t>• Annual Recurring Revenue Per Customer Annual: 990 USD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600"/>
            </a:pPr>
            <a:r>
              <a:t>Question</a:t>
            </a:r>
          </a:p>
          <a:p>
            <a:br/>
            <a:pPr>
              <a:spcAft>
                <a:spcPts val="2000"/>
              </a:spcAft>
              <a:defRPr sz="1400"/>
            </a:pPr>
            <a:r>
              <a:t>What are the financial implications of switching from monthly to annual billing?</a:t>
            </a:r>
            <a:br/>
            <a:br/>
            <a:r>
              <a:t>Current state:</a:t>
            </a:r>
            <a:br/>
            <a:r>
              <a:t>- 500 customers at $99/month</a:t>
            </a:r>
            <a:br/>
            <a:r>
              <a:t>- 5% monthly churn</a:t>
            </a:r>
            <a:br/>
            <a:r>
              <a:t>- $500 CAC per customer</a:t>
            </a:r>
            <a:br/>
            <a:br/>
            <a:r>
              <a:t>Proposed:</a:t>
            </a:r>
            <a:br/>
            <a:r>
              <a:t>- $990/year (16% discount from $1,188/year)</a:t>
            </a:r>
            <a:br/>
            <a:r>
              <a:t>- Target: 3% monthly churn (annual commitment improves retention)</a:t>
            </a:r>
            <a:br/>
          </a:p>
          <a:p>
            <a:pPr>
              <a:spcBef>
                <a:spcPts val="2000"/>
              </a:spcBef>
              <a:defRPr b="1" sz="1600"/>
            </a:pPr>
            <a:r>
              <a:t>Why This Matters</a:t>
            </a:r>
          </a:p>
          <a:p>
            <a:pPr>
              <a:defRPr sz="1400"/>
            </a:pPr>
            <a:r>
              <a:t>This analysis provides financial insights to inform strategic business decisions.</a:t>
            </a:r>
          </a:p>
          <a:p>
            <a:br/>
            <a:pPr>
              <a:spcBef>
                <a:spcPts val="2000"/>
              </a:spcBef>
              <a:defRPr b="1" sz="1600"/>
            </a:pPr>
            <a:r>
              <a:t>Analysis Details</a:t>
            </a:r>
          </a:p>
          <a:p>
            <a:pPr lvl="1">
              <a:defRPr sz="1200"/>
            </a:pPr>
            <a:r>
              <a:t>• Agent: Financial</a:t>
            </a:r>
          </a:p>
          <a:p>
            <a:pPr lvl="1">
              <a:defRPr sz="1200"/>
            </a:pPr>
            <a:r>
              <a:t>• Model: DeepSeek-V3.2-Exp (Chat)</a:t>
            </a:r>
          </a:p>
          <a:p>
            <a:pPr lvl="1">
              <a:defRPr sz="1200"/>
            </a:pPr>
            <a:r>
              <a:t>• Confidence: High</a:t>
            </a:r>
          </a:p>
          <a:p>
            <a:pPr lvl="1">
              <a:defRPr sz="1200"/>
            </a:pPr>
            <a:r>
              <a:t>• Generated: November 15, 2025 at 08:38 PM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400"/>
            </a:pPr>
            <a:r>
              <a:t>• Annual billing increases Net Customer Value by 63% (LTV - CAC)</a:t>
            </a:r>
          </a:p>
          <a:p>
            <a:pPr>
              <a:spcAft>
                <a:spcPts val="1200"/>
              </a:spcAft>
              <a:defRPr sz="1400"/>
            </a:pPr>
            <a:r>
              <a:t>• 3-year net profit increases by $492,000 (+37.5%) with annual billing</a:t>
            </a:r>
          </a:p>
          <a:p>
            <a:pPr>
              <a:spcAft>
                <a:spcPts val="1200"/>
              </a:spcAft>
              <a:defRPr sz="1400"/>
            </a:pPr>
            <a:r>
              <a:t>• ROI on CAC improves by 153 percentage points with annual plan</a:t>
            </a:r>
          </a:p>
          <a:p>
            <a:pPr>
              <a:spcAft>
                <a:spcPts val="1200"/>
              </a:spcAft>
              <a:defRPr sz="1400"/>
            </a:pPr>
            <a:r>
              <a:t>• Annual plan provides immediate CAC recovery vs 5.1 months for monthly</a:t>
            </a:r>
          </a:p>
          <a:p>
            <a:pPr>
              <a:spcAft>
                <a:spcPts val="1200"/>
              </a:spcAft>
              <a:defRPr sz="1400"/>
            </a:pPr>
            <a:r>
              <a:t>• Reduced churn (5% to 3%) increases customer lifetime by over 13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Key Metrics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/>
            </a:pPr>
            <a:r>
              <a:t>Monthly Recurring Revenue Per Customer: 99</a:t>
            </a:r>
          </a:p>
          <a:p>
            <a:pPr>
              <a:spcAft>
                <a:spcPts val="1500"/>
              </a:spcAft>
              <a:defRPr sz="1800"/>
            </a:pPr>
            <a:r>
              <a:t>Annual Recurring Revenue Per Customer Monthly: 1,188</a:t>
            </a:r>
          </a:p>
          <a:p>
            <a:pPr>
              <a:spcAft>
                <a:spcPts val="1500"/>
              </a:spcAft>
              <a:defRPr sz="1800"/>
            </a:pPr>
            <a:r>
              <a:t>Annual Recurring Revenue Per Customer Annual: 990</a:t>
            </a:r>
          </a:p>
          <a:p>
            <a:pPr>
              <a:spcAft>
                <a:spcPts val="1500"/>
              </a:spcAft>
              <a:defRPr sz="1800"/>
            </a:pPr>
            <a:r>
              <a:t>Customer Acquisition Cost: 500</a:t>
            </a:r>
          </a:p>
          <a:p>
            <a:pPr>
              <a:spcAft>
                <a:spcPts val="1500"/>
              </a:spcAft>
              <a:defRPr sz="1800"/>
            </a:pPr>
            <a:r>
              <a:t>Monthly Churn Rate Monthly: 5</a:t>
            </a:r>
          </a:p>
          <a:p>
            <a:pPr>
              <a:spcAft>
                <a:spcPts val="1500"/>
              </a:spcAft>
              <a:defRPr sz="1800"/>
            </a:pPr>
            <a:r>
              <a:t>Monthly Churn Rate Annual: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Key Metrics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/>
            </a:pPr>
            <a:r>
              <a:t>Customer Lifetime Months Monthly: 20</a:t>
            </a:r>
          </a:p>
          <a:p>
            <a:pPr>
              <a:spcAft>
                <a:spcPts val="1500"/>
              </a:spcAft>
              <a:defRPr sz="1800"/>
            </a:pPr>
            <a:r>
              <a:t>Customer Lifetime Months Annual: 33.3</a:t>
            </a:r>
          </a:p>
          <a:p>
            <a:pPr>
              <a:spcAft>
                <a:spcPts val="1500"/>
              </a:spcAft>
              <a:defRPr sz="1800"/>
            </a:pPr>
            <a:r>
              <a:t>Lifetime Value Monthly: 1,980</a:t>
            </a:r>
          </a:p>
          <a:p>
            <a:pPr>
              <a:spcAft>
                <a:spcPts val="1500"/>
              </a:spcAft>
              <a:defRPr sz="1800"/>
            </a:pPr>
            <a:r>
              <a:t>Lifetime Value Annual: 2,747</a:t>
            </a:r>
          </a:p>
          <a:p>
            <a:pPr>
              <a:spcAft>
                <a:spcPts val="1500"/>
              </a:spcAft>
              <a:defRPr sz="1800"/>
            </a:pPr>
            <a:r>
              <a:t>Net Customer Value Monthly: 1,480</a:t>
            </a:r>
          </a:p>
          <a:p>
            <a:pPr>
              <a:spcAft>
                <a:spcPts val="1500"/>
              </a:spcAft>
              <a:defRPr sz="1800"/>
            </a:pPr>
            <a:r>
              <a:t>Net Customer Value Annual: 2,247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Key Metrics (Part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/>
            </a:pPr>
            <a:r>
              <a:t>Total Customers Acquired 3 Year: 1,220</a:t>
            </a:r>
          </a:p>
          <a:p>
            <a:pPr>
              <a:spcAft>
                <a:spcPts val="1500"/>
              </a:spcAft>
              <a:defRPr sz="1800"/>
            </a:pPr>
            <a:r>
              <a:t>Total Gross Revenue Monthly 3 Year: 1,923,000</a:t>
            </a:r>
          </a:p>
          <a:p>
            <a:pPr>
              <a:spcAft>
                <a:spcPts val="1500"/>
              </a:spcAft>
              <a:defRPr sz="1800"/>
            </a:pPr>
            <a:r>
              <a:t>Total Gross Revenue Annual 3 Year: 2,415,000</a:t>
            </a:r>
          </a:p>
          <a:p>
            <a:pPr>
              <a:spcAft>
                <a:spcPts val="1500"/>
              </a:spcAft>
              <a:defRPr sz="1800"/>
            </a:pPr>
            <a:r>
              <a:t>Total Cac Spend 3 Year: 610,000</a:t>
            </a:r>
          </a:p>
          <a:p>
            <a:pPr>
              <a:spcAft>
                <a:spcPts val="1500"/>
              </a:spcAft>
              <a:defRPr sz="1800"/>
            </a:pPr>
            <a:r>
              <a:t>Net Profit Monthly 3 Year: 1,313,000</a:t>
            </a:r>
          </a:p>
          <a:p>
            <a:pPr>
              <a:spcAft>
                <a:spcPts val="1500"/>
              </a:spcAft>
              <a:defRPr sz="1800"/>
            </a:pPr>
            <a:r>
              <a:t>Net Profit Annual 3 Year: 1,805,000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Key Metrics (Part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/>
            </a:pPr>
            <a:r>
              <a:t>Roi Cac Monthly: 296</a:t>
            </a:r>
          </a:p>
          <a:p>
            <a:pPr>
              <a:spcAft>
                <a:spcPts val="1500"/>
              </a:spcAft>
              <a:defRPr sz="1800"/>
            </a:pPr>
            <a:r>
              <a:t>Roi Cac Annual: 449</a:t>
            </a:r>
          </a:p>
          <a:p>
            <a:pPr>
              <a:spcAft>
                <a:spcPts val="1500"/>
              </a:spcAft>
              <a:defRPr sz="1800"/>
            </a:pPr>
            <a:r>
              <a:t>Payback Period Monthly: 5.1</a:t>
            </a:r>
          </a:p>
          <a:p>
            <a:pPr>
              <a:spcAft>
                <a:spcPts val="1500"/>
              </a:spcAft>
              <a:defRPr sz="1800"/>
            </a:pPr>
            <a:r>
              <a:t>Payback Period Annual: 0</a:t>
            </a:r>
          </a:p>
          <a:p>
            <a:pPr>
              <a:spcAft>
                <a:spcPts val="1500"/>
              </a:spcAft>
              <a:defRPr sz="1800"/>
            </a:pPr>
            <a:r>
              <a:t>Npv Per Customer Monthly: 1,790</a:t>
            </a:r>
          </a:p>
          <a:p>
            <a:pPr>
              <a:spcAft>
                <a:spcPts val="1500"/>
              </a:spcAft>
              <a:defRPr sz="1800"/>
            </a:pPr>
            <a:r>
              <a:t>Npv Per Customer Annual: 990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Key Metrics (Part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/>
            </a:pPr>
            <a:r>
              <a:t>Discount Rate: 10</a:t>
            </a:r>
          </a:p>
          <a:p>
            <a:pPr>
              <a:spcAft>
                <a:spcPts val="1500"/>
              </a:spcAft>
              <a:defRPr sz="1800"/>
            </a:pPr>
            <a:r>
              <a:t>New Customers Per Month: 20</a:t>
            </a:r>
          </a:p>
          <a:p>
            <a:pPr>
              <a:spcAft>
                <a:spcPts val="1500"/>
              </a:spcAft>
              <a:defRPr sz="1800"/>
            </a:pPr>
            <a:r>
              <a:t>Initial Customer Base: 500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Risks &amp;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400"/>
            </a:pPr>
            <a:r>
              <a:t>• Initial revenue dip during migration from monthly to annual billing</a:t>
            </a:r>
          </a:p>
          <a:p>
            <a:pPr>
              <a:spcAft>
                <a:spcPts val="1200"/>
              </a:spcAft>
              <a:defRPr sz="1400"/>
            </a:pPr>
            <a:r>
              <a:t>• Forecast depends on churn reduction assumption holding true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🔴 Implement annual billing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600"/>
            </a:pPr>
            <a:r>
              <a:t>Expected Impact</a:t>
            </a:r>
          </a:p>
          <a:p>
            <a:pPr>
              <a:spcAft>
                <a:spcPts val="2000"/>
              </a:spcAft>
              <a:defRPr sz="1400"/>
            </a:pPr>
            <a:r>
              <a:t>63% increase in Net Customer Value and $492K additional profit over 3 years</a:t>
            </a:r>
          </a:p>
          <a:p>
            <a:pPr>
              <a:spcBef>
                <a:spcPts val="1500"/>
              </a:spcBef>
              <a:defRPr b="1" sz="1600"/>
            </a:pPr>
            <a:r>
              <a:t>Rationale</a:t>
            </a:r>
          </a:p>
          <a:p>
            <a:pPr>
              <a:spcAft>
                <a:spcPts val="2000"/>
              </a:spcAft>
              <a:defRPr sz="1400"/>
            </a:pPr>
            <a:r>
              <a:t>Reduced churn dramatically increases LTV and improves cash flow despite discount</a:t>
            </a:r>
          </a:p>
          <a:p>
            <a:pPr>
              <a:spcBef>
                <a:spcPts val="1500"/>
              </a:spcBef>
              <a:defRPr b="1" sz="1600"/>
            </a:pPr>
            <a:r>
              <a:t>Action Items</a:t>
            </a:r>
          </a:p>
          <a:p>
            <a:pPr lvl="1">
              <a:defRPr sz="1300"/>
            </a:pPr>
            <a:r>
              <a:t>• Design annual billing option with 16% discount</a:t>
            </a:r>
          </a:p>
          <a:p>
            <a:pPr lvl="1">
              <a:defRPr sz="1300"/>
            </a:pPr>
            <a:r>
              <a:t>• Develop migration strategy for existing customers</a:t>
            </a:r>
          </a:p>
          <a:p>
            <a:pPr lvl="1">
              <a:defRPr sz="1300"/>
            </a:pPr>
            <a:r>
              <a:t>• Update billing systems and processes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🟡 Use phased migration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600"/>
            </a:pPr>
            <a:r>
              <a:t>Expected Impact</a:t>
            </a:r>
          </a:p>
          <a:p>
            <a:pPr>
              <a:spcAft>
                <a:spcPts val="2000"/>
              </a:spcAft>
              <a:defRPr sz="1400"/>
            </a:pPr>
            <a:r>
              <a:t>Mitigates initial revenue dip while transitioning customers</a:t>
            </a:r>
          </a:p>
          <a:p>
            <a:pPr>
              <a:spcBef>
                <a:spcPts val="1500"/>
              </a:spcBef>
              <a:defRPr b="1" sz="1600"/>
            </a:pPr>
            <a:r>
              <a:t>Rationale</a:t>
            </a:r>
          </a:p>
          <a:p>
            <a:pPr>
              <a:spcAft>
                <a:spcPts val="2000"/>
              </a:spcAft>
              <a:defRPr sz="1400"/>
            </a:pPr>
            <a:r>
              <a:t>Smooth transition minimizes disruption and revenue volatility</a:t>
            </a:r>
          </a:p>
          <a:p>
            <a:pPr>
              <a:spcBef>
                <a:spcPts val="1500"/>
              </a:spcBef>
              <a:defRPr b="1" sz="1600"/>
            </a:pPr>
            <a:r>
              <a:t>Action Items</a:t>
            </a:r>
          </a:p>
          <a:p>
            <a:pPr lvl="1">
              <a:defRPr sz="1300"/>
            </a:pPr>
            <a:r>
              <a:t>• Create customer communication plan</a:t>
            </a:r>
          </a:p>
          <a:p>
            <a:pPr lvl="1">
              <a:defRPr sz="1300"/>
            </a:pPr>
            <a:r>
              <a:t>• Develop incentive structure for early adopters</a:t>
            </a:r>
          </a:p>
          <a:p>
            <a:pPr lvl="1">
              <a:defRPr sz="1300"/>
            </a:pPr>
            <a:r>
              <a:t>• Monitor migration metrics closely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600"/>
            </a:pPr>
            <a:r>
              <a:t>Immediate Actions (High Priority)</a:t>
            </a:r>
          </a:p>
          <a:p>
            <a:pPr>
              <a:spcAft>
                <a:spcPts val="800"/>
              </a:spcAft>
              <a:defRPr sz="1400"/>
            </a:pPr>
            <a:r>
              <a:t>• Implement annual billing plan</a:t>
            </a:r>
          </a:p>
          <a:p>
            <a:br/>
            <a:pPr>
              <a:spcBef>
                <a:spcPts val="2000"/>
              </a:spcBef>
              <a:defRPr b="1" sz="1600"/>
            </a:pPr>
            <a:r>
              <a:t>30-Day Actions (Medium Priority)</a:t>
            </a:r>
          </a:p>
          <a:p>
            <a:pPr>
              <a:spcAft>
                <a:spcPts val="800"/>
              </a:spcAft>
              <a:defRPr sz="1400"/>
            </a:pPr>
            <a:r>
              <a:t>• Use phased migration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