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Business Intelligence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What are the unit economics for a SaaS company with $100 MRR per customer, 5% monthly churn, and $50...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8C8C8"/>
                </a:solidFill>
              </a:defRPr>
            </a:pPr>
            <a:r>
              <a:t>Prepared by ValtricAI | November 14,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400"/>
            </a:pPr>
            <a:r>
              <a:t>The financial analysis reveals fundamentally profitable unit economics with a strong LTV:CAC ratio of 3.1 and quick CAC payback period of 6.25 months, indicating the business can confidently invest in growth. However, the high monthly churn rate of 5% (approximately 46% annually) represents a significant risk that requires immediate attention through retention-focused investments to ensure long-term sustainability.</a:t>
            </a:r>
          </a:p>
          <a:p>
            <a:br/>
            <a:pPr>
              <a:spcBef>
                <a:spcPts val="2000"/>
              </a:spcBef>
              <a:defRPr b="1" sz="1600"/>
            </a:pPr>
            <a:r>
              <a:t>Key Metrics:</a:t>
            </a:r>
          </a:p>
          <a:p>
            <a:pPr lvl="1">
              <a:defRPr sz="1400"/>
            </a:pPr>
            <a:r>
              <a:t>• Average Revenue Per User: 100 USD per month</a:t>
            </a:r>
          </a:p>
          <a:p>
            <a:pPr lvl="1">
              <a:defRPr sz="1400"/>
            </a:pPr>
            <a:r>
              <a:t>• Monthly Churn Rate: 5 percent</a:t>
            </a:r>
          </a:p>
          <a:p>
            <a:pPr lvl="1">
              <a:defRPr sz="1400"/>
            </a:pPr>
            <a:r>
              <a:t>• Customer Acquisition Cost: 500 USD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Question</a:t>
            </a:r>
          </a:p>
          <a:p>
            <a:pPr>
              <a:spcAft>
                <a:spcPts val="2000"/>
              </a:spcAft>
              <a:defRPr sz="1400"/>
            </a:pPr>
            <a:r>
              <a:t>What are the unit economics for a SaaS company with $100 MRR per customer, 5% monthly churn, and $500 CAC?</a:t>
            </a:r>
          </a:p>
          <a:p>
            <a:pPr>
              <a:spcBef>
                <a:spcPts val="2000"/>
              </a:spcBef>
              <a:defRPr b="1" sz="1600"/>
            </a:pPr>
            <a:r>
              <a:t>Why This Matters</a:t>
            </a:r>
          </a:p>
          <a:p>
            <a:pPr>
              <a:defRPr sz="1400"/>
            </a:pPr>
            <a:r>
              <a:t>This analysis provides financial insights to inform strategic business decisions.</a:t>
            </a:r>
          </a:p>
          <a:p>
            <a:br/>
            <a:pPr>
              <a:spcBef>
                <a:spcPts val="2000"/>
              </a:spcBef>
              <a:defRPr b="1" sz="1600"/>
            </a:pPr>
            <a:r>
              <a:t>Analysis Details</a:t>
            </a:r>
          </a:p>
          <a:p>
            <a:pPr lvl="1">
              <a:defRPr sz="1200"/>
            </a:pPr>
            <a:r>
              <a:t>• Agent: Financial</a:t>
            </a:r>
          </a:p>
          <a:p>
            <a:pPr lvl="1">
              <a:defRPr sz="1200"/>
            </a:pPr>
            <a:r>
              <a:t>• Model: DeepSeek-V3.2-Exp (Chat)</a:t>
            </a:r>
          </a:p>
          <a:p>
            <a:pPr lvl="1">
              <a:defRPr sz="1200"/>
            </a:pPr>
            <a:r>
              <a:t>• Confidence: High</a:t>
            </a:r>
          </a:p>
          <a:p>
            <a:pPr lvl="1">
              <a:defRPr sz="1200"/>
            </a:pPr>
            <a:r>
              <a:t>• Generated: November 14, 2025 at 09:55 PM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400"/>
            </a:pPr>
            <a:r>
              <a:t>• Unit economics are fundamentally profitable with strong LTV:CAC ratio of 3.1</a:t>
            </a:r>
          </a:p>
          <a:p>
            <a:pPr>
              <a:spcAft>
                <a:spcPts val="1200"/>
              </a:spcAft>
              <a:defRPr sz="1400"/>
            </a:pPr>
            <a:r>
              <a:t>• CAC payback period of 6.25 months is excellent for SaaS business</a:t>
            </a:r>
          </a:p>
          <a:p>
            <a:pPr>
              <a:spcAft>
                <a:spcPts val="1200"/>
              </a:spcAft>
              <a:defRPr sz="1400"/>
            </a:pPr>
            <a:r>
              <a:t>• High monthly churn rate of 5% is the primary risk factor</a:t>
            </a:r>
          </a:p>
          <a:p>
            <a:pPr>
              <a:spcAft>
                <a:spcPts val="1200"/>
              </a:spcAft>
              <a:defRPr sz="1400"/>
            </a:pPr>
            <a:r>
              <a:t>• Each customer generates approximately $549 net profit in today's dollars</a:t>
            </a:r>
          </a:p>
          <a:p>
            <a:pPr>
              <a:spcAft>
                <a:spcPts val="1200"/>
              </a:spcAft>
              <a:defRPr sz="1400"/>
            </a:pPr>
            <a:r>
              <a:t>• Business must replace nearly half of customer base annually due to high churn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Metrics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Average Revenue Per User: 100</a:t>
            </a:r>
          </a:p>
          <a:p>
            <a:pPr>
              <a:spcAft>
                <a:spcPts val="1500"/>
              </a:spcAft>
              <a:defRPr sz="1800"/>
            </a:pPr>
            <a:r>
              <a:t>Monthly Churn Rate: 5</a:t>
            </a:r>
          </a:p>
          <a:p>
            <a:pPr>
              <a:spcAft>
                <a:spcPts val="1500"/>
              </a:spcAft>
              <a:defRPr sz="1800"/>
            </a:pPr>
            <a:r>
              <a:t>Customer Acquisition Cost: 500</a:t>
            </a:r>
          </a:p>
          <a:p>
            <a:pPr>
              <a:spcAft>
                <a:spcPts val="1500"/>
              </a:spcAft>
              <a:defRPr sz="1800"/>
            </a:pPr>
            <a:r>
              <a:t>Gross Margin: 80</a:t>
            </a:r>
          </a:p>
          <a:p>
            <a:pPr>
              <a:spcAft>
                <a:spcPts val="1500"/>
              </a:spcAft>
              <a:defRPr sz="1800"/>
            </a:pPr>
            <a:r>
              <a:t>Contribution Margin: 80</a:t>
            </a:r>
          </a:p>
          <a:p>
            <a:pPr>
              <a:spcAft>
                <a:spcPts val="1500"/>
              </a:spcAft>
              <a:defRPr sz="1800"/>
            </a:pPr>
            <a:r>
              <a:t>Customer Lifetime: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Metrics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Simple Ltv: 1,600</a:t>
            </a:r>
          </a:p>
          <a:p>
            <a:pPr>
              <a:spcAft>
                <a:spcPts val="1500"/>
              </a:spcAft>
              <a:defRPr sz="1800"/>
            </a:pPr>
            <a:r>
              <a:t>Npv Ltv: 1,049</a:t>
            </a:r>
          </a:p>
          <a:p>
            <a:pPr>
              <a:spcAft>
                <a:spcPts val="1500"/>
              </a:spcAft>
              <a:defRPr sz="1800"/>
            </a:pPr>
            <a:r>
              <a:t>Net Ltv Per Customer: 549</a:t>
            </a:r>
          </a:p>
          <a:p>
            <a:pPr>
              <a:spcAft>
                <a:spcPts val="1500"/>
              </a:spcAft>
              <a:defRPr sz="1800"/>
            </a:pPr>
            <a:r>
              <a:t>Ltv Cac Ratio: 3.1</a:t>
            </a:r>
          </a:p>
          <a:p>
            <a:pPr>
              <a:spcAft>
                <a:spcPts val="1500"/>
              </a:spcAft>
              <a:defRPr sz="1800"/>
            </a:pPr>
            <a:r>
              <a:t>Cac Payback Period: 6.25</a:t>
            </a:r>
          </a:p>
          <a:p>
            <a:pPr>
              <a:spcAft>
                <a:spcPts val="1500"/>
              </a:spcAft>
              <a:defRPr sz="1800"/>
            </a:pPr>
            <a:r>
              <a:t>Annual Churn Rate: 46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Metrics (Part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500"/>
              </a:spcAft>
              <a:defRPr sz="1800"/>
            </a:pPr>
            <a:r>
              <a:t>Discount Rate: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Risks &amp;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400"/>
            </a:pPr>
            <a:r>
              <a:t>• High churn rate of 5% caps customer lifetime and makes business vulnerable to acquisition cost inflation</a:t>
            </a:r>
          </a:p>
          <a:p>
            <a:pPr>
              <a:spcAft>
                <a:spcPts val="1200"/>
              </a:spcAft>
              <a:defRPr sz="1400"/>
            </a:pPr>
            <a:r>
              <a:t>• CAC inflation could reduce LTV:CAC ratio to unsustainable levels if competition increases</a:t>
            </a:r>
          </a:p>
          <a:p>
            <a:pPr>
              <a:spcAft>
                <a:spcPts val="1200"/>
              </a:spcAft>
              <a:defRPr sz="1400"/>
            </a:pPr>
            <a:r>
              <a:t>• Profitability depends on maintaining 80% gross margin, which could be eroded by increased hosting or support costs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🔴 Aggressive Growth Investment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Expected Impact</a:t>
            </a:r>
          </a:p>
          <a:p>
            <a:pPr>
              <a:spcAft>
                <a:spcPts val="2000"/>
              </a:spcAft>
              <a:defRPr sz="1400"/>
            </a:pPr>
            <a:r>
              <a:t>Expected net present value return of ~$548,620 for every $500,000 spent on marketing</a:t>
            </a:r>
          </a:p>
          <a:p>
            <a:pPr>
              <a:spcBef>
                <a:spcPts val="1500"/>
              </a:spcBef>
              <a:defRPr b="1" sz="1600"/>
            </a:pPr>
            <a:r>
              <a:t>Rationale</a:t>
            </a:r>
          </a:p>
          <a:p>
            <a:pPr>
              <a:spcAft>
                <a:spcPts val="2000"/>
              </a:spcAft>
              <a:defRPr sz="1400"/>
            </a:pPr>
            <a:r>
              <a:t>Strong LTV:CAC ratio and quick payback period justify confident reinvestment in customer acquisition</a:t>
            </a:r>
          </a:p>
          <a:p>
            <a:pPr>
              <a:spcBef>
                <a:spcPts val="1500"/>
              </a:spcBef>
              <a:defRPr b="1" sz="1600"/>
            </a:pPr>
            <a:r>
              <a:t>Action Items</a:t>
            </a:r>
          </a:p>
          <a:p>
            <a:pPr lvl="1">
              <a:defRPr sz="1300"/>
            </a:pPr>
            <a:r>
              <a:t>• Reinvest profits into customer acquisition programs</a:t>
            </a:r>
          </a:p>
          <a:p>
            <a:pPr lvl="1">
              <a:defRPr sz="1300"/>
            </a:pPr>
            <a:r>
              <a:t>• Scale marketing budget proportionally to projected returns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🔴 Budget Re-allocation to Retention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Expected Impact</a:t>
            </a:r>
          </a:p>
          <a:p>
            <a:pPr>
              <a:spcAft>
                <a:spcPts val="2000"/>
              </a:spcAft>
              <a:defRPr sz="1400"/>
            </a:pPr>
            <a:r>
              <a:t>Potential to increase LTV to ~$1,900 and LTV:CAC ratio to 3.8 if churn reduced to 3%</a:t>
            </a:r>
          </a:p>
          <a:p>
            <a:pPr>
              <a:spcBef>
                <a:spcPts val="1500"/>
              </a:spcBef>
              <a:defRPr b="1" sz="1600"/>
            </a:pPr>
            <a:r>
              <a:t>Rationale</a:t>
            </a:r>
          </a:p>
          <a:p>
            <a:pPr>
              <a:spcAft>
                <a:spcPts val="2000"/>
              </a:spcAft>
              <a:defRPr sz="1400"/>
            </a:pPr>
            <a:r>
              <a:t>High churn rate is the dominant risk and biggest lever for improving profitability</a:t>
            </a:r>
          </a:p>
          <a:p>
            <a:pPr>
              <a:spcBef>
                <a:spcPts val="1500"/>
              </a:spcBef>
              <a:defRPr b="1" sz="1600"/>
            </a:pPr>
            <a:r>
              <a:t>Action Items</a:t>
            </a:r>
          </a:p>
          <a:p>
            <a:pPr lvl="1">
              <a:defRPr sz="1300"/>
            </a:pPr>
            <a:r>
              <a:t>• Allocate 15-25% of budget to customer success teams</a:t>
            </a:r>
          </a:p>
          <a:p>
            <a:pPr lvl="1">
              <a:defRPr sz="1300"/>
            </a:pPr>
            <a:r>
              <a:t>• Invest in product improvements that increase stickiness</a:t>
            </a:r>
          </a:p>
          <a:p>
            <a:pPr lvl="1">
              <a:defRPr sz="1300"/>
            </a:pPr>
            <a:r>
              <a:t>• Implement proactive engagement and onboarding programs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🟡 Scenario Modeling for Budgeting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Expected Impact</a:t>
            </a:r>
          </a:p>
          <a:p>
            <a:pPr>
              <a:spcAft>
                <a:spcPts val="2000"/>
              </a:spcAft>
              <a:defRPr sz="1400"/>
            </a:pPr>
            <a:r>
              <a:t>Better risk management and strategic planning through comprehensive scenario analysis</a:t>
            </a:r>
          </a:p>
          <a:p>
            <a:pPr>
              <a:spcBef>
                <a:spcPts val="1500"/>
              </a:spcBef>
              <a:defRPr b="1" sz="1600"/>
            </a:pPr>
            <a:r>
              <a:t>Rationale</a:t>
            </a:r>
          </a:p>
          <a:p>
            <a:pPr>
              <a:spcAft>
                <a:spcPts val="2000"/>
              </a:spcAft>
              <a:defRPr sz="1400"/>
            </a:pPr>
            <a:r>
              <a:t>Understanding sensitivity to key assumptions helps prepare for market changes</a:t>
            </a:r>
          </a:p>
          <a:p>
            <a:pPr>
              <a:spcBef>
                <a:spcPts val="1500"/>
              </a:spcBef>
              <a:defRPr b="1" sz="1600"/>
            </a:pPr>
            <a:r>
              <a:t>Action Items</a:t>
            </a:r>
          </a:p>
          <a:p>
            <a:pPr lvl="1">
              <a:defRPr sz="1300"/>
            </a:pPr>
            <a:r>
              <a:t>• Model base case with current assumptions</a:t>
            </a:r>
          </a:p>
          <a:p>
            <a:pPr lvl="1">
              <a:defRPr sz="1300"/>
            </a:pPr>
            <a:r>
              <a:t>• Model upside case with reduced churn</a:t>
            </a:r>
          </a:p>
          <a:p>
            <a:pPr lvl="1">
              <a:defRPr sz="1300"/>
            </a:pPr>
            <a:r>
              <a:t>• Model downside case with increased CAC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600"/>
            </a:pPr>
            <a:r>
              <a:t>Immediate Actions (High Priority)</a:t>
            </a:r>
          </a:p>
          <a:p>
            <a:pPr>
              <a:spcAft>
                <a:spcPts val="800"/>
              </a:spcAft>
              <a:defRPr sz="1400"/>
            </a:pPr>
            <a:r>
              <a:t>• Aggressive Growth Investment</a:t>
            </a:r>
          </a:p>
          <a:p>
            <a:pPr>
              <a:spcAft>
                <a:spcPts val="800"/>
              </a:spcAft>
              <a:defRPr sz="1400"/>
            </a:pPr>
            <a:r>
              <a:t>• Budget Re-allocation to Retention</a:t>
            </a:r>
          </a:p>
          <a:p>
            <a:br/>
            <a:pPr>
              <a:spcBef>
                <a:spcPts val="2000"/>
              </a:spcBef>
              <a:defRPr b="1" sz="1600"/>
            </a:pPr>
            <a:r>
              <a:t>30-Day Actions (Medium Priority)</a:t>
            </a:r>
          </a:p>
          <a:p>
            <a:pPr>
              <a:spcAft>
                <a:spcPts val="800"/>
              </a:spcAft>
              <a:defRPr sz="1400"/>
            </a:pPr>
            <a:r>
              <a:t>• Scenario Modeling for Budgeting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